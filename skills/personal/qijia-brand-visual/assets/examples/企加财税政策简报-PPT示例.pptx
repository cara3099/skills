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aa656b97ff4733" /><Relationship Type="http://schemas.openxmlformats.org/officeDocument/2006/relationships/extended-properties" Target="/docProps/app.xml" Id="R8bda19e291be48e7" /><Relationship Type="http://schemas.openxmlformats.org/officeDocument/2006/relationships/officeDocument" Target="/ppt/presentation.xml" Id="R949a66ffe4f942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d2c33784e4995"/>
  </p:sldMasterIdLst>
  <p:notesMasterIdLst>
    <p:notesMasterId xmlns:r="http://schemas.openxmlformats.org/officeDocument/2006/relationships" r:id="R65c06e57f7e04e4a"/>
  </p:notesMasterIdLst>
  <p:sldIdLst>
    <p:sldId xmlns:r="http://schemas.openxmlformats.org/officeDocument/2006/relationships" id="256" r:id="R1146d087033d4c0a"/>
    <p:sldId xmlns:r="http://schemas.openxmlformats.org/officeDocument/2006/relationships" id="257" r:id="R8ab1dec8175a4d07"/>
    <p:sldId xmlns:r="http://schemas.openxmlformats.org/officeDocument/2006/relationships" id="258" r:id="R3a67c9bdc65d4624"/>
    <p:sldId xmlns:r="http://schemas.openxmlformats.org/officeDocument/2006/relationships" id="259" r:id="Rc826de5aa1594541"/>
    <p:sldId xmlns:r="http://schemas.openxmlformats.org/officeDocument/2006/relationships" id="260" r:id="R6db8f28666fb47b7"/>
    <p:sldId xmlns:r="http://schemas.openxmlformats.org/officeDocument/2006/relationships" id="261" r:id="Ra5247fdbce9b4dd8"/>
    <p:sldId xmlns:r="http://schemas.openxmlformats.org/officeDocument/2006/relationships" id="262" r:id="R9da60ffcf907401b"/>
    <p:sldId xmlns:r="http://schemas.openxmlformats.org/officeDocument/2006/relationships" id="263" r:id="Rc3ef2a8045d242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c1b9b4b7ec49da" /><Relationship Type="http://schemas.openxmlformats.org/officeDocument/2006/relationships/slideMaster" Target="/ppt/slideMasters/slideMaster1.xml" Id="R135d2c33784e4995" /><Relationship Type="http://schemas.openxmlformats.org/officeDocument/2006/relationships/notesMaster" Target="/ppt/notesMasters/notesMaster1.xml" Id="R65c06e57f7e04e4a" /><Relationship Type="http://schemas.openxmlformats.org/officeDocument/2006/relationships/presProps" Target="/ppt/presProps.xml" Id="Rb2b8f53a54de49cb" /><Relationship Type="http://schemas.openxmlformats.org/officeDocument/2006/relationships/tableStyles" Target="/ppt/tableStyles.xml" Id="R63d28aeea8ec49a1" /><Relationship Type="http://schemas.openxmlformats.org/officeDocument/2006/relationships/slide" Target="/ppt/slides/slide1.xml" Id="R1146d087033d4c0a" /><Relationship Type="http://schemas.openxmlformats.org/officeDocument/2006/relationships/slide" Target="/ppt/slides/slide2.xml" Id="R8ab1dec8175a4d07" /><Relationship Type="http://schemas.openxmlformats.org/officeDocument/2006/relationships/slide" Target="/ppt/slides/slide3.xml" Id="R3a67c9bdc65d4624" /><Relationship Type="http://schemas.openxmlformats.org/officeDocument/2006/relationships/slide" Target="/ppt/slides/slide4.xml" Id="Rc826de5aa1594541" /><Relationship Type="http://schemas.openxmlformats.org/officeDocument/2006/relationships/slide" Target="/ppt/slides/slide5.xml" Id="R6db8f28666fb47b7" /><Relationship Type="http://schemas.openxmlformats.org/officeDocument/2006/relationships/slide" Target="/ppt/slides/slide6.xml" Id="Ra5247fdbce9b4dd8" /><Relationship Type="http://schemas.openxmlformats.org/officeDocument/2006/relationships/slide" Target="/ppt/slides/slide7.xml" Id="R9da60ffcf907401b" /><Relationship Type="http://schemas.openxmlformats.org/officeDocument/2006/relationships/slide" Target="/ppt/slides/slide8.xml" Id="Rc3ef2a8045d242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2bb5889c424e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29632d8ac24324" /><Relationship Type="http://schemas.openxmlformats.org/officeDocument/2006/relationships/notesMaster" Target="/ppt/notesMasters/notesMaster1.xml" Id="R91cba5666b204b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89cc9c585741b9" /><Relationship Type="http://schemas.openxmlformats.org/officeDocument/2006/relationships/notesMaster" Target="/ppt/notesMasters/notesMaster1.xml" Id="R9a5e5e0d3a6744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d78ca300db45f3" /><Relationship Type="http://schemas.openxmlformats.org/officeDocument/2006/relationships/notesMaster" Target="/ppt/notesMasters/notesMaster1.xml" Id="Rd53f331e651d47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4407d550394701" /><Relationship Type="http://schemas.openxmlformats.org/officeDocument/2006/relationships/notesMaster" Target="/ppt/notesMasters/notesMaster1.xml" Id="R108276f559e245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1f9c69b3914cc9" /><Relationship Type="http://schemas.openxmlformats.org/officeDocument/2006/relationships/notesMaster" Target="/ppt/notesMasters/notesMaster1.xml" Id="Rff4d2f0d82024c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133425f3714fec" /><Relationship Type="http://schemas.openxmlformats.org/officeDocument/2006/relationships/notesMaster" Target="/ppt/notesMasters/notesMaster1.xml" Id="Rf0725f255bef4a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221f7cd1ef46e7" /><Relationship Type="http://schemas.openxmlformats.org/officeDocument/2006/relationships/notesMaster" Target="/ppt/notesMasters/notesMaster1.xml" Id="R094f786de5ae47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852a71e6b640c5" /><Relationship Type="http://schemas.openxmlformats.org/officeDocument/2006/relationships/notesMaster" Target="/ppt/notesMasters/notesMaster1.xml" Id="R2f21ce2bd31c43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46a7f59654d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eb9bf102ae4165" /><Relationship Type="http://schemas.openxmlformats.org/officeDocument/2006/relationships/slideLayout" Target="/ppt/slideLayouts/slideLayout1.xml" Id="R6545df09e35942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45df09e35942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46226263241c8" /><Relationship Type="http://schemas.openxmlformats.org/officeDocument/2006/relationships/image" Target="/ppt/media/image.png" Id="Rfb89a5a1b74c4363" /><Relationship Type="http://schemas.openxmlformats.org/officeDocument/2006/relationships/image" Target="/ppt/media/image2.png" Id="R7284f335cc774b05" /><Relationship Type="http://schemas.openxmlformats.org/officeDocument/2006/relationships/notesSlide" Target="/ppt/notesSlides/notesSlide1.xml" Id="R6ce8f146c65e40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a35c03bfe4b69" /><Relationship Type="http://schemas.openxmlformats.org/officeDocument/2006/relationships/image" Target="/ppt/media/image3.png" Id="Rf514ae11f8c544f6" /><Relationship Type="http://schemas.openxmlformats.org/officeDocument/2006/relationships/notesSlide" Target="/ppt/notesSlides/notesSlide2.xml" Id="Rdcd930b56572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4e98d54564df0" /><Relationship Type="http://schemas.openxmlformats.org/officeDocument/2006/relationships/image" Target="/ppt/media/image4.png" Id="R932189635f154d39" /><Relationship Type="http://schemas.openxmlformats.org/officeDocument/2006/relationships/notesSlide" Target="/ppt/notesSlides/notesSlide3.xml" Id="Rd75cde3d415549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5ce015581430d" /><Relationship Type="http://schemas.openxmlformats.org/officeDocument/2006/relationships/image" Target="/ppt/media/image5.png" Id="Raac12b626ef64408" /><Relationship Type="http://schemas.openxmlformats.org/officeDocument/2006/relationships/notesSlide" Target="/ppt/notesSlides/notesSlide4.xml" Id="R0defbb48547349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d1ded66784178" /><Relationship Type="http://schemas.openxmlformats.org/officeDocument/2006/relationships/image" Target="/ppt/media/image6.png" Id="Rd7bf953069404683" /><Relationship Type="http://schemas.openxmlformats.org/officeDocument/2006/relationships/notesSlide" Target="/ppt/notesSlides/notesSlide5.xml" Id="Rb59b2784128443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41f51bd32404c" /><Relationship Type="http://schemas.openxmlformats.org/officeDocument/2006/relationships/image" Target="/ppt/media/image7.png" Id="Rd2127fbf4ddc4c39" /><Relationship Type="http://schemas.openxmlformats.org/officeDocument/2006/relationships/notesSlide" Target="/ppt/notesSlides/notesSlide6.xml" Id="Rdc8088227d084a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9c088d3a4474f" /><Relationship Type="http://schemas.openxmlformats.org/officeDocument/2006/relationships/image" Target="/ppt/media/image8.png" Id="R2a704cb73ef14cb7" /><Relationship Type="http://schemas.openxmlformats.org/officeDocument/2006/relationships/notesSlide" Target="/ppt/notesSlides/notesSlide7.xml" Id="R090d9b97c5d04b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a9f8bd3704f21" /><Relationship Type="http://schemas.openxmlformats.org/officeDocument/2006/relationships/image" Target="/ppt/media/image9.png" Id="R8dfa5577486847b4" /><Relationship Type="http://schemas.openxmlformats.org/officeDocument/2006/relationships/notesSlide" Target="/ppt/notesSlides/notesSlide8.xml" Id="R61256e26808343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5B2099-1571-441A-8A8F-F4EDBAF3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1BCF9-877F-4479-A4AD-C4C2C8B6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D9ECF-D82A-4F7D-9E46-22F666EB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93290-B3BC-4813-994A-DDE3FA7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36211-C2BF-4B35-ABF2-330A6753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B2750-5B7F-401C-B8B2-7853E94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D2BCD-4E8A-4DA8-B6D9-5BE23F08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5D896-57AF-4CC9-9A99-17808F14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8EC56-8932-438C-ABF6-2339BE59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65DB1-03C5-4AE8-A4C2-14F52D79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9A40F-3AF0-46FD-8BAA-E8F72C3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86A31-BE37-4580-89A8-1768AB4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14986-9526-4CD6-9249-BB3DCEC8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AA43C-8C36-41C2-95AC-9220AF8A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CD1B6-0FCE-40EC-B1A7-12857D52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42AEC-DD43-421C-8561-D4D4D7F4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14BE6-770D-438C-B26B-3FA0B8E5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A590F-17F2-4A14-AEBF-8E9D7F16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589F9-ADE2-4527-B927-AAC6D195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ADAD4-36D1-487C-AB38-6605FD2E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DA562-68F8-416B-BFA9-DE6FA102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13111-9C3C-4E02-AD0B-FA40BDCC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1BFC10-57E3-4883-A9B1-397F125D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84BD4-FEEF-40A5-8AA4-1EEB3400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74C8BC-FA83-46DC-8C3A-089411B9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B28C6-2D15-43D0-B577-2E0CC33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02FC1-2CFA-4DA5-A60C-E70B9040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E55C66-1100-4907-AF3C-E4CE28D1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C20EE-CF81-48A8-B56C-61D07C8C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7BC2FD-4F9C-4C3B-9C15-E649DBDC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93C036-FBA2-42E0-806C-28965A19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39CA49-94D9-4189-947E-1B9E5DF4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B2F3FF-9F56-4586-8A4C-CAF54925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610F51-C19B-4A5D-A024-C2FFC586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491658-B62B-4EAB-9DCD-257AA889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7FC40E-0DD1-4B55-8CEE-63AC6191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7F8043-8207-480A-843E-7CE97EF8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9a5a1b74c4363"/>
          <a:stretch xmlns:a="http://schemas.openxmlformats.org/drawingml/2006/main"/>
        </p:blipFill>
        <p:spPr>
          <a:xfrm xmlns:a="http://schemas.openxmlformats.org/drawingml/2006/main">
            <a:off x="779978" y="590550"/>
            <a:ext cx="421243" cy="5524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EE6525-2287-4E62-B526-9AAD49F4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858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A4A"/>
                </a:solidFill>
              </a:defRPr>
            </a:pPr>
            <a:r>
              <a:rPr sz="1650" b="1">
                <a:solidFill>
                  <a:srgbClr val="172A4A"/>
                </a:solidFill>
              </a:rPr>
              <a:t>广东企加税务师事务所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5551C6-D89D-41E8-A617-831EAFC4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25DCC8-EDE3-46BB-B513-ABE992DA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666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A4A"/>
                </a:solidFill>
              </a:defRPr>
            </a:pPr>
            <a:r>
              <a:rPr sz="3600" b="1">
                <a:solidFill>
                  <a:srgbClr val="172A4A"/>
                </a:solidFill>
              </a:rPr>
              <a:t>企加财税政策简报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E24527-E550-4DA7-9E60-63BA9315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717F"/>
                </a:solidFill>
              </a:defRPr>
            </a:pPr>
            <a:r>
              <a:rPr sz="1575">
                <a:solidFill>
                  <a:srgbClr val="68717F"/>
                </a:solidFill>
              </a:rPr>
              <a:t>截至2026年7月15日最新政策动态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468E0F-BF56-472B-A8A9-5E402624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E2A2A"/>
                </a:solidFill>
              </a:defRPr>
            </a:pPr>
            <a:r>
              <a:rPr sz="1125" b="1">
                <a:solidFill>
                  <a:srgbClr val="CE2A2A"/>
                </a:solidFill>
              </a:rPr>
              <a:t>2026年第01期  ·  2026-07-15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97AADF-8FE3-4AF8-A412-585CA06D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17F"/>
                </a:solidFill>
              </a:defRPr>
            </a:pPr>
            <a:r>
              <a:rPr sz="975">
                <a:solidFill>
                  <a:srgbClr val="68717F"/>
                </a:solidFill>
              </a:rPr>
              <a:t>企业管理层、财务及税务负责人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80C5C9-A1A2-4183-A145-C4ECF3D9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4f335cc774b05"/>
          <a:srcRect xmlns:a="http://schemas.openxmlformats.org/drawingml/2006/main" l="4375" t="0" r="4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9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866B2-6A7D-4198-B109-C616C5F5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FE061-3F31-48EA-9DC1-4DF77056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0B990-B5BE-4327-8671-91F24638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4BB73-7B99-4FCF-B8C0-E8ED62F8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54433-77B4-4726-BEB1-F23C8C2E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89FE7-78C6-4ABE-BB17-18995187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81C53-0F4C-47AD-B096-0A05AD44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B7A7E-B0F9-4EF9-8A19-EAC569F8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BF685-A6F2-4B9F-B8B9-8F252D61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CCF29-E909-4406-99D6-2BF1CEE1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84FC7-4232-42D7-9846-5674752D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B3A3D-F308-4A67-9C6C-7C7179F0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69057-4BAB-4918-8E8F-55D24C25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31D1F-BECB-43CF-AA6B-3EE3181E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FC637-4E3D-4891-9B85-35B654D7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F8AA5-78A8-4BAC-B430-B65E3050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603B8-64D1-4EE8-B4F3-A09BC220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D996C-36FD-4419-AD6A-D4529EC5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8D382-2BC2-4C24-8BD3-49CC3481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FC09C-F203-4902-AFAF-32391AE4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E30CB-63A5-49C6-82F1-FA799777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B5430-647E-458F-91C0-6EF04D7A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39E04-A1EE-448B-B9AE-ECDCBD13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9D32C-C151-41BA-B5A3-1BEB3639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C4425-5106-4DB0-AC34-FA48F95E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1EC83-C9A4-4179-BDE8-342CF528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6EDC66-DF12-44B7-9184-5CF29491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580A1C-77E0-4E67-8D7F-5E6A1D49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DC565A-3053-4A40-8F5B-96E7CBA3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997123-D8AB-47CA-AC5B-BA7E505C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7DED47-8F64-4376-96A0-5C86ADCB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14AF22-0F01-4D54-ADB1-1D017E95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3C0C6D-1BBF-4EFA-8F65-BCCDF8BA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7F87E6-41C2-4DF1-A8BC-4A22D0EE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B79404-764C-4EE5-8DF9-A0313607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B8658A-60C5-44CE-AE63-A5348934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89BDF9-D777-4D96-B4D4-27DAF05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4ae11f8c544f6"/>
          <a:stretch xmlns:a="http://schemas.openxmlformats.org/drawingml/2006/main"/>
        </p:blipFill>
        <p:spPr>
          <a:xfrm xmlns:a="http://schemas.openxmlformats.org/drawingml/2006/main">
            <a:off x="655320" y="228600"/>
            <a:ext cx="232410" cy="3048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862B31-6B73-4E46-9539-2310AB59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A4A"/>
                </a:solidFill>
              </a:defRPr>
            </a:pPr>
            <a:r>
              <a:rPr sz="1050" b="1">
                <a:solidFill>
                  <a:srgbClr val="172A4A"/>
                </a:solidFill>
              </a:rPr>
              <a:t>广东企加税务师事务所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3D932F-D719-47C5-BCDA-3FB8974F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财税政策简报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95A72F-5320-448B-8098-867B8E65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4BC86C-DFC6-4276-9C53-99EC39AF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817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17F"/>
                </a:solidFill>
              </a:defRPr>
            </a:pPr>
            <a:r>
              <a:rPr sz="750">
                <a:solidFill>
                  <a:srgbClr val="68717F"/>
                </a:solidFill>
              </a:rPr>
              <a:t>2026-07-15  ·  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FDB5B0-8326-4D31-982B-E510C921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E2A2A"/>
                </a:solidFill>
              </a:defRPr>
            </a:pPr>
            <a:r>
              <a:rPr sz="825" b="1">
                <a:solidFill>
                  <a:srgbClr val="CE2A2A"/>
                </a:solidFill>
              </a:rPr>
              <a:t>TODAY AT A GLANCE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875258-648C-4ABC-85BC-1B808BE9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4A"/>
                </a:solidFill>
              </a:defRPr>
            </a:pPr>
            <a:r>
              <a:rPr sz="2400" b="1">
                <a:solidFill>
                  <a:srgbClr val="172A4A"/>
                </a:solidFill>
              </a:rPr>
              <a:t>今天先完成申报，再安排三项政策评估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E26BCE-92F3-4309-881D-0352C386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828879-78C1-408E-9AB8-42DF8EEE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5219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DA1DAD-73AD-4C87-B1BC-004A2F8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70F198-3DB9-4104-BC7D-5551E21D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今日申报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1E5C2F-BEED-4DD8-A711-0CFFED2A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E2A2A"/>
                </a:solidFill>
              </a:defRPr>
            </a:pPr>
            <a:r>
              <a:rPr sz="2100" b="1">
                <a:solidFill>
                  <a:srgbClr val="CE2A2A"/>
                </a:solidFill>
              </a:rPr>
              <a:t>7月15日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C7E7CD-97F7-4DBC-B799-0618424C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2026年7月申报纳税期限截至今日，尚未完成的企业应立即核对申报与缴款状态。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9B02C8-960F-436F-978E-80BEB8CA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5219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975ECE-4AA7-4DCD-93B3-1A42A20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E1E8DB-A790-48C4-A7CD-98EBFC4D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车船税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4241BF-490C-4890-83C7-47FCD744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A4A"/>
                </a:solidFill>
              </a:defRPr>
            </a:pPr>
            <a:r>
              <a:rPr sz="2100" b="1">
                <a:solidFill>
                  <a:srgbClr val="172A4A"/>
                </a:solidFill>
              </a:rPr>
              <a:t>2027年起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599D89-28E1-49CE-B655-2AA086C7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部分节能汽车、新能源商用车车船税优惠将取消，企业车队成本需提前测算。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30B37B-ED20-471C-844E-6B3786B1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219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E1D2EE-2342-4E56-9C2F-F5965857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50532F-70B6-4118-BCAD-C598CBC6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财务共享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B6CC04-3ADF-4AB0-A3DF-3E7F4E5A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A4A"/>
                </a:solidFill>
              </a:defRPr>
            </a:pPr>
            <a:r>
              <a:rPr sz="2100" b="1">
                <a:solidFill>
                  <a:srgbClr val="172A4A"/>
                </a:solidFill>
              </a:rPr>
              <a:t>804号指引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7880A8-1883-43FD-BAA2-B107E2BD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财政部发布财务共享服务管理会计应用指引，强调标准化、数据治理和责任不转移。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D4A1A2-8A2E-4279-AE5B-6E569356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5219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6393F5-BAF2-4522-A6E9-41FDA357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BA12E7-C697-4E79-9F56-6644A8E4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会计准则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3424024-946E-4047-8771-034FE5AA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48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A4A"/>
                </a:solidFill>
              </a:defRPr>
            </a:pPr>
            <a:r>
              <a:rPr sz="2100" b="1">
                <a:solidFill>
                  <a:srgbClr val="172A4A"/>
                </a:solidFill>
              </a:rPr>
              <a:t>解释第20号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D37B4F-88A8-49C9-B115-A0C3794D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涉及金融资产合同现金流特征及外币折算，首次执行需评估追溯调整。</a:t>
            </a:r>
          </a:p>
        </p:txBody>
      </p:sp>
    </p:spTree>
    <p:extLst>
      <p:ext uri="{BB962C8B-B14F-4D97-AF65-F5344CB8AC3E}">
        <p14:creationId xmlns:p14="http://schemas.microsoft.com/office/powerpoint/2010/main" val="1045621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80A4F-3EC0-4CD9-A53D-BBEABF1B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31EAD-C981-48F4-8CFB-53720011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04B0C-21FA-4D88-8D4F-9B4202E1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CF945-680D-4E06-9EF2-506595DF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6E6EC-781A-4798-8375-AEFCA554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F58CC-C5AC-4E33-B882-8CB01E21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50503-2648-44CB-A14F-EB496636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3657A-7F23-4270-9B93-967FE91B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0B91C-CB29-4EA7-A7D6-81C7E03A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8AAE9-524E-4D9A-B80D-A33F073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5DAB7-5C9D-449C-B904-6D0FB4A1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F0A9A-989E-4B0F-9138-F96882E2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04D01-C07C-43FA-9DEA-B662E5BA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06532-5CC2-41AB-977E-CB7E8C36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E39D1-0BFE-4779-A21B-419AA476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0D1E5-8EB5-4203-8367-17C94CFD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877AE-BFC6-4414-A50F-AFD0A49E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4CD7F-7308-4D67-A881-AA4021DB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9CBC0-7FBE-443F-A8D0-5B5AA441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FC2E9-5A55-4CEB-8D28-EF18C5B9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C5CDF-1CDD-49D7-ADA4-4A41B557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B89AA-4D51-4FBD-BBEA-5B5D86E3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BC6BF-5D7C-4B58-A0EA-3F2A8574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BC13B-20B0-4EA0-8DCE-D67B2104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83AB75-E350-4014-9580-48CE187C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E7635D-EF48-4FD4-BBFD-E6B92C04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692AB-905E-4C33-A9A7-763BF3EF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859D9-D851-4A4C-8788-58F9EC96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124F5D-9560-479E-9031-9C1F7B6C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DF5689-A0F5-4ED3-96DC-E72F2C36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C64821-2951-4DE4-8EDB-A426215B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D58A7-99EA-4749-8A57-0B5DC375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232696-6E9E-488D-9FFA-0C674B52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8CF360-8377-4A08-B6E4-D43D900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1EBE8-F966-4177-8D26-0EF84E06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8E856E-E977-47F9-9E71-BD855078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BB839F-3510-48BA-8773-585EAC95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189635f154d39"/>
          <a:stretch xmlns:a="http://schemas.openxmlformats.org/drawingml/2006/main"/>
        </p:blipFill>
        <p:spPr>
          <a:xfrm xmlns:a="http://schemas.openxmlformats.org/drawingml/2006/main">
            <a:off x="655320" y="228600"/>
            <a:ext cx="232410" cy="3048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428AD5-D76D-499D-89F8-3A0D91C3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A4A"/>
                </a:solidFill>
              </a:defRPr>
            </a:pPr>
            <a:r>
              <a:rPr sz="1050" b="1">
                <a:solidFill>
                  <a:srgbClr val="172A4A"/>
                </a:solidFill>
              </a:rPr>
              <a:t>广东企加税务师事务所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387CB8-4AA4-4328-AA4D-41610777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征管提醒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D4DC22-E5CD-4C34-8D40-9462B8D1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63D160-9CEF-49B0-89B5-E60D5C35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817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17F"/>
                </a:solidFill>
              </a:defRPr>
            </a:pPr>
            <a:r>
              <a:rPr sz="750">
                <a:solidFill>
                  <a:srgbClr val="68717F"/>
                </a:solidFill>
              </a:rPr>
              <a:t>2026-07-15  ·  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2AF18E-872A-440D-B2A2-8083089C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E2A2A"/>
                </a:solidFill>
              </a:defRPr>
            </a:pPr>
            <a:r>
              <a:rPr sz="825" b="1">
                <a:solidFill>
                  <a:srgbClr val="CE2A2A"/>
                </a:solidFill>
              </a:rPr>
              <a:t>税总办征科函〔2025〕64号 · 高优先级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EB7D81-3347-4C37-AD4F-28F8D4B2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4A"/>
                </a:solidFill>
              </a:defRPr>
            </a:pPr>
            <a:r>
              <a:rPr sz="2400" b="1">
                <a:solidFill>
                  <a:srgbClr val="172A4A"/>
                </a:solidFill>
              </a:rPr>
              <a:t>7月申报纳税期限截至今日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87C31B-6609-4313-8E41-DF0BB8CA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978C39-8CE9-4921-B0F6-359748ED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A6FC14-07C0-46BC-A3F5-122F51DA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7月15日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7DC692-54E0-4962-BC14-7C1AD78E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申报 + 缴款 + 回执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三项均需确认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14796A-C21B-4AD3-A354-D3F710D2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3314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F08E67-A1DB-4B9B-A79E-ADCE16B2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498CF8-5F63-40E3-A6CD-47E7627E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立即核对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F216F5-F677-450B-BEA1-7224453F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2857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1. 立即查询全部税费种申报状态和应缴余额。</a:t>
            </a:r>
          </a:p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2. 保存申报回执、缴款凭证及异常处理记录。</a:t>
            </a:r>
          </a:p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3. 对收入、发票、账务和申报差异做书面说明。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B74AC6-E898-4ADC-A003-71A58FE3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66950"/>
            <a:ext cx="3181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518E84-27D2-4FD7-9EAA-B640534C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669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6027C2-D55F-4060-9E5D-11B5F939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风险影响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3A0C92-8493-4064-8541-D612F944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724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1. 逾期申报或缴税可能产生滞纳金并影响纳税信用。</a:t>
            </a:r>
          </a:p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2. 申报完成不等于缴款完成，需单独核对扣款结果。</a:t>
            </a:r>
          </a:p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3. 增值税、企业所得税预缴、个人所得税等申报数据应与账务和发票信息一致。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26AA69-E736-4BD4-8809-DB60AD06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17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5181D"/>
                </a:solidFill>
              </a:defRPr>
            </a:pPr>
            <a:r>
              <a:rPr sz="1050">
                <a:solidFill>
                  <a:srgbClr val="15181D"/>
                </a:solidFill>
              </a:rPr>
              <a:t>税务机关明确，2026年7月申报纳税期限截至7月15日。企业应在当日完成申报、税款缴纳，并确认银行扣款、电子税务局状态和申报表数据一致。</a:t>
            </a:r>
          </a:p>
        </p:txBody>
      </p:sp>
    </p:spTree>
    <p:extLst>
      <p:ext uri="{BB962C8B-B14F-4D97-AF65-F5344CB8AC3E}">
        <p14:creationId xmlns:p14="http://schemas.microsoft.com/office/powerpoint/2010/main" val="144740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490BC6-5E83-49FD-802D-A02E9976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0B439-4B57-4DC1-8269-49F331B7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91409-4C89-4F0B-9D77-83C04554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C59AF-1C4D-4839-873D-82A00AC5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30049-F366-4FA4-AE3E-47CF4DD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E7777-74C0-4513-BAAE-D6204883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D3B9C-B016-49A6-B490-CE6F12B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5F707-CAD6-44E1-8FB4-DFF5F378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A0BFD-D932-48BC-A2DE-C8C505A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32E04-6D81-4626-AFEB-B0E73ADA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46325-62FD-419F-A093-97F7B930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E956A-3440-463A-98B7-490164C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75224-6F41-428B-89C8-2ABD0BBE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7A8DB-E906-497E-BCB3-53157B12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007A7-3F6A-49F9-A8E0-AE107664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B5B31-4CF0-491C-8026-92B1C46A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BC5CB-78DE-40B2-923E-E35C42FC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21DC4-50FA-46C1-A7AF-579871C1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BF884-1946-4829-B955-19F560AE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8662D-C809-48C6-A771-E55EF1AF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B3C50-ACBC-448C-9429-60A4DB2B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4815A-E427-4246-A741-82B87BF7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4DD25-EC94-4162-84B7-7357EF8C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5213E-E9A0-418C-9032-E253B900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750D4C-7A1E-4CF6-9796-75D50943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00842-D0F4-43B2-BF63-4B222CE3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3B9D4-A39C-4905-A27A-25DE1664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F110FE-1E26-4771-AC84-C370FA9C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3183E8-7A8E-4BF6-8B6B-15392F34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08FD3A-C774-4600-B487-9A67483D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69F3F1-E62A-4014-8E1A-26D37013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AEB392-12F8-4BAC-A661-861B7D3A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F59B7-F59C-4DC2-ADE0-5311385A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88E76C-49D0-48BC-A970-33F76276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B70F16-9870-4B4D-A89C-B2F263AA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2EB787-69A0-4EE6-9F9C-7C3BF596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C43BCB-80A9-4D70-9ACD-E3B4FD03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12b626ef64408"/>
          <a:stretch xmlns:a="http://schemas.openxmlformats.org/drawingml/2006/main"/>
        </p:blipFill>
        <p:spPr>
          <a:xfrm xmlns:a="http://schemas.openxmlformats.org/drawingml/2006/main">
            <a:off x="655320" y="228600"/>
            <a:ext cx="232410" cy="3048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7FF0BA-0B3B-4955-934B-1F1A76BD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A4A"/>
                </a:solidFill>
              </a:defRPr>
            </a:pPr>
            <a:r>
              <a:rPr sz="1050" b="1">
                <a:solidFill>
                  <a:srgbClr val="172A4A"/>
                </a:solidFill>
              </a:rPr>
              <a:t>广东企加税务师事务所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30B63A-733E-4804-886D-BA2EECCF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车船税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58EA6D-5E58-409A-A449-A432985A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547195-39A1-4101-9A68-55BDDE75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817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17F"/>
                </a:solidFill>
              </a:defRPr>
            </a:pPr>
            <a:r>
              <a:rPr sz="750">
                <a:solidFill>
                  <a:srgbClr val="68717F"/>
                </a:solidFill>
              </a:rPr>
              <a:t>2026-07-15  ·  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A0C933-F805-470D-98F2-E3FCD2BF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E2A2A"/>
                </a:solidFill>
              </a:defRPr>
            </a:pPr>
            <a:r>
              <a:rPr sz="825" b="1">
                <a:solidFill>
                  <a:srgbClr val="CE2A2A"/>
                </a:solidFill>
              </a:rPr>
              <a:t>财政部 税务总局 工业和信息化部公告2026年第19号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DE0CC0-F814-4F48-BCC2-82876663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4A"/>
                </a:solidFill>
              </a:defRPr>
            </a:pPr>
            <a:r>
              <a:rPr sz="2400" b="1">
                <a:solidFill>
                  <a:srgbClr val="172A4A"/>
                </a:solidFill>
              </a:rPr>
              <a:t>2027年起，相关车辆优惠退出需要提前入预算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60DFC6-E9A0-4FC8-BE97-24E6B0DE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173B42-914A-4BAD-8488-BA2D9A4D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80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99F61D-93AD-4A4F-B310-943C5CB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CBD7C7-727C-44CE-8CF9-B4F2D2B3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政策变化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099FB1-D2F3-4A12-B3BF-3224B4F0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3434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自2027年1月1日起，取消节能汽车减半征收车船税以及纯电动商用车、插电式混合动力商用车、燃料电池商用车免征车船税优惠。符合条件的存量和新增车辆均按规定缴纳车船税。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DA5CA9-0232-4B49-9A63-29D6F305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47900"/>
            <a:ext cx="51625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60036B-D453-424A-8BB1-4647292D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4790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2E8B10-CE10-4231-8892-F7DCEBCA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38400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企业应对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4DFB2D-8D27-4A21-BF34-FB19EF3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57500"/>
            <a:ext cx="4705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1. 梳理车辆类型、登记信息和当前优惠资格。</a:t>
            </a:r>
          </a:p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2. 测算2027年度新增税负并纳入预算。</a:t>
            </a:r>
          </a:p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3. 更新车辆采购审批和租赁成本模型。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E83370-3FC8-4B21-9CDA-672A2823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A31D0F-53CD-461E-8588-008DFE15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72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E00051-B09F-4840-8955-2B68986D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72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ADED6B-239E-47A0-89ED-B769695B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E2A2A"/>
                </a:solidFill>
              </a:defRPr>
            </a:pPr>
            <a:r>
              <a:rPr sz="1125" b="1">
                <a:solidFill>
                  <a:srgbClr val="CE2A2A"/>
                </a:solidFill>
              </a:rPr>
              <a:t>现在：梳理车辆与优惠资格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5BFFC8-38EB-4B70-8E7F-99DC0BB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5435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A4A"/>
                </a:solidFill>
              </a:defRPr>
            </a:pPr>
            <a:r>
              <a:rPr sz="1125" b="1">
                <a:solidFill>
                  <a:srgbClr val="172A4A"/>
                </a:solidFill>
              </a:rPr>
              <a:t>2027-01-01：按规定缴纳车船税</a:t>
            </a:r>
          </a:p>
        </p:txBody>
      </p:sp>
    </p:spTree>
    <p:extLst>
      <p:ext uri="{BB962C8B-B14F-4D97-AF65-F5344CB8AC3E}">
        <p14:creationId xmlns:p14="http://schemas.microsoft.com/office/powerpoint/2010/main" val="886995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830B45-00C4-474D-BD33-73C5B6B7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0BB1B-EC39-4727-803C-9BB4FDD8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82D92-0718-4A24-829F-7A8B2744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3C1D2-F344-4ED3-AD68-60ACF87E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C70BF-E167-401B-BE33-7241E616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6BE30-27C7-464A-A3F7-E5DA3FE7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CB60D-C0A3-42BB-91D7-A1AE22CB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40996-D685-46EA-BC24-DE7E8AC9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477CC-6973-47B8-87F8-319CCDB4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0734E-DBA8-4621-9607-CA7F7004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42077-89F1-4ECB-8F05-59D799E3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F67B9-5CF2-437D-BE43-18FF531D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422D3-C224-4D0F-9595-B430E37C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3AB98-8F1F-4C84-B46A-93844498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AFF3A-5962-41E7-8B09-9713C3D2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EB5F5-965A-412A-922D-272DB8D7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985D1-557D-45B9-936A-611EE4E1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DBB4C-95AC-4EFB-9936-A281D7CC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FA86A-5B2D-4576-BD95-9FECCF9B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5517E-4EE6-4E5D-B3A0-98CAD53B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D9F95-45C2-43DE-9630-322BEE49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700A4-45E0-4900-9865-EFC3342A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1F129-9FC0-4DBC-9AF0-4C081648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F9A0F-ECE9-4289-8FBC-18CCF683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C9404B-4988-45CC-94B1-7F0AE0EF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100CE-CEC4-4B1B-AA00-C97EAA8C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2CD7C-D218-4543-BB43-85DDFFEF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EB4435-2419-49BD-95BD-20431E3D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E0E6EF-9C6F-4EA7-BEA1-CFE67C6C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39F4A-8276-409F-BE1C-5FACD3BF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BEBE68-4DF0-4FB2-9B42-0A10CA1C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FE727A-C1F2-4C69-80D6-E371A2AA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B123E9-E6C0-46F3-BC15-3EE5687D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AC6518-6DD7-4D6E-8D81-A4795011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C85D59-29F5-4333-95C7-5D782A2B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5A0999-1878-4A44-AB06-6CA5131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013BD2-5E4A-43B3-8A18-3A81BF6C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f953069404683"/>
          <a:stretch xmlns:a="http://schemas.openxmlformats.org/drawingml/2006/main"/>
        </p:blipFill>
        <p:spPr>
          <a:xfrm xmlns:a="http://schemas.openxmlformats.org/drawingml/2006/main">
            <a:off x="655320" y="228600"/>
            <a:ext cx="232410" cy="3048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3A9DA0-1177-465A-B697-5A1E361F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A4A"/>
                </a:solidFill>
              </a:defRPr>
            </a:pPr>
            <a:r>
              <a:rPr sz="1050" b="1">
                <a:solidFill>
                  <a:srgbClr val="172A4A"/>
                </a:solidFill>
              </a:rPr>
              <a:t>广东企加税务师事务所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A6496F-87FB-4AB9-A7FF-3311072A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管理会计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11513F-24D7-45A7-9D47-CA12B09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14873E-9BBD-42FE-B78B-B66F437E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817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17F"/>
                </a:solidFill>
              </a:defRPr>
            </a:pPr>
            <a:r>
              <a:rPr sz="750">
                <a:solidFill>
                  <a:srgbClr val="68717F"/>
                </a:solidFill>
              </a:rPr>
              <a:t>2026-07-15  ·  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5005F0-073A-4420-A154-9EC5D95C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E2A2A"/>
                </a:solidFill>
              </a:defRPr>
            </a:pPr>
            <a:r>
              <a:rPr sz="825" b="1">
                <a:solidFill>
                  <a:srgbClr val="CE2A2A"/>
                </a:solidFill>
              </a:rPr>
              <a:t>财会〔2026〕9号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B7F0E0-DC3D-4AE5-9457-F2B5F4E5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4A"/>
                </a:solidFill>
              </a:defRPr>
            </a:pPr>
            <a:r>
              <a:rPr sz="2400" b="1">
                <a:solidFill>
                  <a:srgbClr val="172A4A"/>
                </a:solidFill>
              </a:rPr>
              <a:t>财务共享强调标准化，但不会转移法定责任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70616A-0D34-4126-B3EC-9B1FBE43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4B8907-4131-4F9B-963B-E926862D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89E9E3-6FF5-4E86-9136-0A6C38C0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C03BE4-2CE8-4E92-BF4E-2CE2F947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标准化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08AAC4-A900-474F-8E63-782BD4AE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会计政策、单据附件、主数据和审批权限统一标准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A02375-846A-4DBD-8307-84E3D42D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4C6640-F86D-4404-9EBE-DB3A6BF8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F750F8-CD58-4895-833B-3AAD07E4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193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数据治理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3F7F77-B27C-4F1A-93E5-20DB8D2A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跨系统数据质量和异常处理成为内控重点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E0B3C4-8D30-415C-8ACF-6E299F7D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288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F660DF-0DA2-4930-8550-E3C76C63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288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C9F515-9B01-4B55-9D82-B4DCAC2B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监控预警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18AFB8-946F-43F9-BC43-AD83AE23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建立主数据、异常事项和税务风险监控机制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F9A9F2-3E16-4342-A02E-CA249D50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412795-D473-4D9C-9B82-880DC704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33C1FE-FCDD-448A-B2E9-7F8753B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193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4A"/>
                </a:solidFill>
              </a:defRPr>
            </a:pPr>
            <a:r>
              <a:rPr sz="1200" b="1">
                <a:solidFill>
                  <a:srgbClr val="172A4A"/>
                </a:solidFill>
              </a:rPr>
              <a:t>责任边界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89AD3C-D20B-49EC-8F97-B13060BD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384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共享服务不转移单位及负责人的法定责任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52BD62-BBE7-455B-AB0D-AB4691CB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210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54B32C-9408-4496-ACDC-D6C33467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A4A"/>
                </a:solidFill>
              </a:defRPr>
            </a:pPr>
            <a:r>
              <a:rPr sz="1275" b="1">
                <a:solidFill>
                  <a:srgbClr val="172A4A"/>
                </a:solidFill>
              </a:rPr>
              <a:t>建议行动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4DF5D4-8295-47E9-A686-59FEB1E8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5181D"/>
                </a:solidFill>
              </a:defRPr>
            </a:pPr>
            <a:r>
              <a:rPr sz="1275">
                <a:solidFill>
                  <a:srgbClr val="15181D"/>
                </a:solidFill>
              </a:rPr>
              <a:t>1. 评估现有共享流程是否有统一制度和证据链。</a:t>
            </a:r>
          </a:p>
          <a:p xmlns:a="http://schemas.openxmlformats.org/drawingml/2006/main">
            <a:pPr>
              <a:defRPr sz="1275">
                <a:solidFill>
                  <a:srgbClr val="15181D"/>
                </a:solidFill>
              </a:defRPr>
            </a:pPr>
            <a:r>
              <a:rPr sz="1275">
                <a:solidFill>
                  <a:srgbClr val="15181D"/>
                </a:solidFill>
              </a:rPr>
              <a:t>2. 明确业务、共享中心和管理层的责任边界。</a:t>
            </a:r>
          </a:p>
          <a:p xmlns:a="http://schemas.openxmlformats.org/drawingml/2006/main">
            <a:pPr>
              <a:defRPr sz="1275">
                <a:solidFill>
                  <a:srgbClr val="15181D"/>
                </a:solidFill>
              </a:defRPr>
            </a:pPr>
            <a:r>
              <a:rPr sz="1275">
                <a:solidFill>
                  <a:srgbClr val="15181D"/>
                </a:solidFill>
              </a:rPr>
              <a:t>3. 建立主数据、异常事项和税务风险的监控机制。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5E1A3F-8A3D-47B9-BA14-C633A9ED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E2A2A"/>
                </a:solidFill>
              </a:defRPr>
            </a:pPr>
            <a:r>
              <a:rPr sz="1050" b="1">
                <a:solidFill>
                  <a:srgbClr val="CE2A2A"/>
                </a:solidFill>
              </a:rPr>
              <a:t>共享中心可以承接流程，但单位及负责人依法承担的责任不随之转移。</a:t>
            </a:r>
          </a:p>
        </p:txBody>
      </p:sp>
    </p:spTree>
    <p:extLst>
      <p:ext uri="{BB962C8B-B14F-4D97-AF65-F5344CB8AC3E}">
        <p14:creationId xmlns:p14="http://schemas.microsoft.com/office/powerpoint/2010/main" val="871271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F2F2A7-EC97-4E80-8CAA-9BFFBD0D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FE965-2347-4ABF-9763-CFB032D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F9396-2C92-4CCD-B60B-601AD680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4449A-D377-4968-95C4-627084F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7197C-DC5B-499D-A492-DAC8F590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CBEAA-0191-40C1-BBD3-523560F5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EE22E-7211-4129-AA74-C54D1B16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D9891-7649-4C35-BFC3-B9DDB6AD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FB69B-8BEB-4656-8A94-3B767007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A7E83-A420-489C-B810-3C768370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BC067-B621-4EA0-8892-12BAA439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A9ACC-4017-427A-9543-D3F688C6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8953E-CCAA-4C46-83F6-8B84D48A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CA5D1-A29E-4F05-9F13-A72A6F1A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199E3-B3EF-42C0-AF34-8DD3A5AC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F6D05-EED3-4423-A652-F141CB0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F0752-5679-429B-ADF9-A6BD9438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395FB-9D2E-4D9C-872B-5940202F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3AE65-69A6-4E77-8E86-E84ABF36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446B0-01D9-4DF5-8E10-004208BB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42FF1-B067-4988-A8E9-0E3178F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CB882-BDEB-4302-B513-894E867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CFC38-B67B-4E92-A608-7E4E3788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A9DD1-B90C-4E8C-AE7C-8E2B065C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3B665-D239-4A9B-84E5-73D63146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723D8-A66C-45E3-915B-C8D5C72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9C9FB7-BC05-4665-A9A8-76D10DE0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AC365-DE80-4825-8244-A9247AC0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3F6326-C86E-4565-8AAC-FD86BCCD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D360F8-B20E-495D-83C5-516FBA3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1A3F2F-1C4F-4E47-9764-CD4BF3D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5416D0-691F-4986-B67F-3429E24A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EA672-922B-48A2-AAB6-C36D123A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05C63D-BEAC-46E1-B2F3-DA647AEE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32D3F5-739F-468B-A960-A8042E57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E1D6B4-DC19-4E43-BD39-244F3008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25F875-820C-4BC8-8596-739B3B07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27fbf4ddc4c39"/>
          <a:stretch xmlns:a="http://schemas.openxmlformats.org/drawingml/2006/main"/>
        </p:blipFill>
        <p:spPr>
          <a:xfrm xmlns:a="http://schemas.openxmlformats.org/drawingml/2006/main">
            <a:off x="655320" y="228600"/>
            <a:ext cx="232410" cy="3048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DE3B7A-1E11-404A-A153-C39094DC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A4A"/>
                </a:solidFill>
              </a:defRPr>
            </a:pPr>
            <a:r>
              <a:rPr sz="1050" b="1">
                <a:solidFill>
                  <a:srgbClr val="172A4A"/>
                </a:solidFill>
              </a:rPr>
              <a:t>广东企加税务师事务所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4E8B70-AA9B-4EA8-91D4-F6B28F24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会计准则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BD5CDD-B3AE-4082-A722-26CE66E5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C0C1EA-9257-4C6A-8FC6-21D650BF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817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17F"/>
                </a:solidFill>
              </a:defRPr>
            </a:pPr>
            <a:r>
              <a:rPr sz="750">
                <a:solidFill>
                  <a:srgbClr val="68717F"/>
                </a:solidFill>
              </a:rPr>
              <a:t>2026-07-15  ·  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42D85F-6EA5-4DF0-9621-B17C879A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E2A2A"/>
                </a:solidFill>
              </a:defRPr>
            </a:pPr>
            <a:r>
              <a:rPr sz="825" b="1">
                <a:solidFill>
                  <a:srgbClr val="CE2A2A"/>
                </a:solidFill>
              </a:rPr>
              <a:t>财会〔2026〕7号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8B5ED9-204C-4013-ADF4-C500DD9B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4A"/>
                </a:solidFill>
              </a:defRPr>
            </a:pPr>
            <a:r>
              <a:rPr sz="2400" b="1">
                <a:solidFill>
                  <a:srgbClr val="172A4A"/>
                </a:solidFill>
              </a:rPr>
              <a:t>解释第20号需要同步评估判断、期初调整与披露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F61F61-AA2F-481D-A37A-499BD1FA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A3EF3D-FF09-4ED0-AA1A-A70F66A1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400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208530-3F68-42FD-A371-1FBF02CE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E2A2A"/>
                </a:solidFill>
              </a:defRPr>
            </a:pPr>
            <a:r>
              <a:rPr sz="2100" b="1">
                <a:solidFill>
                  <a:srgbClr val="CE2A2A"/>
                </a:solidFill>
              </a:rPr>
              <a:t>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ED9A57-6168-44DC-871A-D6A1BC82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A4A"/>
                </a:solidFill>
              </a:defRPr>
            </a:pPr>
            <a:r>
              <a:rPr sz="1275" b="1">
                <a:solidFill>
                  <a:srgbClr val="172A4A"/>
                </a:solidFill>
              </a:rPr>
              <a:t>识别事项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A0348B-017C-449F-877B-DD1D0231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金融资产、外币交易、境外经营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CDCF19-9C1F-4EF1-9C04-8E3D99C5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2400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8C94FC-38FB-4949-8AA1-A45CE85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A4A"/>
                </a:solidFill>
              </a:defRPr>
            </a:pPr>
            <a:r>
              <a:rPr sz="2100" b="1">
                <a:solidFill>
                  <a:srgbClr val="172A4A"/>
                </a:solidFill>
              </a:rPr>
              <a:t>02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7A4F6D-06D8-4362-BCEF-A35D9BEF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A4A"/>
                </a:solidFill>
              </a:defRPr>
            </a:pPr>
            <a:r>
              <a:rPr sz="1275" b="1">
                <a:solidFill>
                  <a:srgbClr val="172A4A"/>
                </a:solidFill>
              </a:rPr>
              <a:t>形成判断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ADC6EA-5796-4A29-9EBC-D83949F1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385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合同现金流特征与会计处理底稿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016713-3929-4040-BB67-E0E164DF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43150"/>
            <a:ext cx="2400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A5F728-8568-485B-9527-ADE6174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A4A"/>
                </a:solidFill>
              </a:defRPr>
            </a:pPr>
            <a:r>
              <a:rPr sz="2100" b="1">
                <a:solidFill>
                  <a:srgbClr val="172A4A"/>
                </a:solidFill>
              </a:rPr>
              <a:t>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59B397-3C9A-406C-83BC-16189160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A4A"/>
                </a:solidFill>
              </a:defRPr>
            </a:pPr>
            <a:r>
              <a:rPr sz="1275" b="1">
                <a:solidFill>
                  <a:srgbClr val="172A4A"/>
                </a:solidFill>
              </a:rPr>
              <a:t>计算调整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A19DE4-1386-4E02-AA01-F169DB62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评估2026年1月1日期初影响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F7B0D2-3EEC-4F73-9341-72179CF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43150"/>
            <a:ext cx="2400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DC6D81-0E72-48F0-8D1D-EFCFBBEF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A4A"/>
                </a:solidFill>
              </a:defRPr>
            </a:pPr>
            <a:r>
              <a:rPr sz="2100" b="1">
                <a:solidFill>
                  <a:srgbClr val="172A4A"/>
                </a:solidFill>
              </a:rPr>
              <a:t>04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7119AC-D2AD-4964-90B3-367F6F4D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A4A"/>
                </a:solidFill>
              </a:defRPr>
            </a:pPr>
            <a:r>
              <a:rPr sz="1275" b="1">
                <a:solidFill>
                  <a:srgbClr val="172A4A"/>
                </a:solidFill>
              </a:rPr>
              <a:t>完成披露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8E36BA-ADA9-4CAC-AAF1-3C094AB9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385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报表列报、附注与审计沟通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BA9F88-3B72-48E0-8B4B-846DB003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0172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81D"/>
                </a:solidFill>
              </a:defRPr>
            </a:pPr>
            <a:r>
              <a:rPr sz="1125">
                <a:solidFill>
                  <a:srgbClr val="15181D"/>
                </a:solidFill>
              </a:rPr>
              <a:t>解释第20号涉及金融资产合同现金流量特征评估和外币折算等问题，自公布之日起施行。首次执行按规定追溯调整，累计影响调整2026年1月1日留存收益及相关报表项目，无需调整前期比较数据。</a:t>
            </a:r>
          </a:p>
        </p:txBody>
      </p:sp>
    </p:spTree>
    <p:extLst>
      <p:ext uri="{BB962C8B-B14F-4D97-AF65-F5344CB8AC3E}">
        <p14:creationId xmlns:p14="http://schemas.microsoft.com/office/powerpoint/2010/main" val="1825358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AFB977-0F16-420F-BFF7-10842DC5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3DD0C-1FD3-4CD2-A5D1-A77FED1E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D7B24-2DA7-4CB4-AF1C-195BBD20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4B077-27D6-4F85-8512-A7D8BB4C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74B3A-84A5-415B-A527-585D5057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B8D71-C5CD-4B01-861E-8D72100D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87FDD-5ED1-4791-B89E-8A37A633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363D3-35E5-4649-A918-899216C9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143B8-43FB-407F-B14A-C0D9865C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84F42-4BCF-4096-9213-E9993149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B4066-58DA-4E53-A635-3E957C02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78B18-50D3-4F30-9BB7-6557E45C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5A63C-2816-4F73-8F4F-574B652E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3408F-4F20-40DF-98CE-F2B74D52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70077-557C-41BC-9E49-0524E258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1ACA4-7FCD-4AA3-B68D-BE020FED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97298-1E31-4CD2-94BC-73E8EAF1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D763C-C215-46D7-B7B0-9A1932DC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94B42-7CA5-4CBA-AFFE-81376228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30F03-D3BD-468B-BB59-9361D79B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BCC58-1025-419D-9A98-59897104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BDA54-B807-49CC-9059-9FCCCD78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91E79-F079-4293-96DE-4A89E166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D02B5-55A9-42DE-8FBE-348D8AD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CC672-329B-4BA0-8120-9491D304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56D3A-3684-49A7-859F-0926906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B8555-335C-4AA2-8BA6-C22DA4C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C4AEE-0CFE-4B19-B1FA-0F07E7F5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F6AE9-B193-4766-9DBD-F9C14B1B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B5922D-4A1A-4D47-964F-74E7A204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E03D2-665A-412E-B7BB-FBF403CE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D01FBC-0C24-499E-A70E-C53C1A4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33992B-0B7A-4770-8558-1E18EF1C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A90F83-1115-419B-92B3-837CD3B0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765034-A364-491C-9F7B-29500730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5CCECA-448A-4ED0-9042-9C5A751D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E66243-6E42-44B4-A16B-EFA050E7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04cb73ef14cb7"/>
          <a:stretch xmlns:a="http://schemas.openxmlformats.org/drawingml/2006/main"/>
        </p:blipFill>
        <p:spPr>
          <a:xfrm xmlns:a="http://schemas.openxmlformats.org/drawingml/2006/main">
            <a:off x="655320" y="228600"/>
            <a:ext cx="232410" cy="3048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AE0B27-25D1-4FB3-915B-EDFB036B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A4A"/>
                </a:solidFill>
              </a:defRPr>
            </a:pPr>
            <a:r>
              <a:rPr sz="1050" b="1">
                <a:solidFill>
                  <a:srgbClr val="172A4A"/>
                </a:solidFill>
              </a:rPr>
              <a:t>广东企加税务师事务所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7EBDA9-6F26-4FA6-B548-844FAE5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行动清单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35BD3A-457E-4866-8023-FAA12C74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836AD4-D34A-4E36-B74B-902231D9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817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17F"/>
                </a:solidFill>
              </a:defRPr>
            </a:pPr>
            <a:r>
              <a:rPr sz="750">
                <a:solidFill>
                  <a:srgbClr val="68717F"/>
                </a:solidFill>
              </a:rPr>
              <a:t>2026-07-15  ·  07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153898-C362-488E-9452-75842769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E2A2A"/>
                </a:solidFill>
              </a:defRPr>
            </a:pPr>
            <a:r>
              <a:rPr sz="825" b="1">
                <a:solidFill>
                  <a:srgbClr val="CE2A2A"/>
                </a:solidFill>
              </a:rPr>
              <a:t>ACTION BOARD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FDC2DF-F3EF-484E-AFAF-4520997E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4A"/>
                </a:solidFill>
              </a:defRPr>
            </a:pPr>
            <a:r>
              <a:rPr sz="2400" b="1">
                <a:solidFill>
                  <a:srgbClr val="172A4A"/>
                </a:solidFill>
              </a:rPr>
              <a:t>四项行动按时限推进，今天先关闭申报事项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CF347F-2A9A-4EAC-BF2B-6A79BFDD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3E7DCA-379C-430F-A801-4516F2C5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19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CFA4AF-3562-400E-A16B-78B3047A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771D3E-0E17-4B64-8077-18FF83F8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07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E2A2A"/>
                </a:solidFill>
              </a:defRPr>
            </a:pPr>
            <a:r>
              <a:rPr sz="1125" b="1">
                <a:solidFill>
                  <a:srgbClr val="CE2A2A"/>
                </a:solidFill>
              </a:rPr>
              <a:t>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13CAE7-C380-459C-BB01-70C3E44B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3362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181D"/>
                </a:solidFill>
              </a:defRPr>
            </a:pPr>
            <a:r>
              <a:rPr sz="1125" b="1">
                <a:solidFill>
                  <a:srgbClr val="15181D"/>
                </a:solidFill>
              </a:rPr>
              <a:t>完成7月全部税费种申报与缴款复核，保存回执和异常记录。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667D80-6664-49E3-B932-43E5930B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336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17F"/>
                </a:solidFill>
              </a:defRPr>
            </a:pPr>
            <a:r>
              <a:rPr sz="975">
                <a:solidFill>
                  <a:srgbClr val="68717F"/>
                </a:solidFill>
              </a:rPr>
              <a:t>财务/税务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A5FC3E-D6D2-437C-B632-B64742B9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336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A4A"/>
                </a:solidFill>
              </a:defRPr>
            </a:pPr>
            <a:r>
              <a:rPr sz="975" b="1">
                <a:solidFill>
                  <a:srgbClr val="172A4A"/>
                </a:solidFill>
              </a:rPr>
              <a:t>2026-07-15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F709FC-751E-401B-9BAF-0E2106D2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019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2B7840-5471-4A9C-9E00-E39E6A36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08ABC2-830A-471D-8F27-F5B5C8F8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70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A4A"/>
                </a:solidFill>
              </a:defRPr>
            </a:pPr>
            <a:r>
              <a:rPr sz="1125" b="1">
                <a:solidFill>
                  <a:srgbClr val="172A4A"/>
                </a:solidFill>
              </a:rPr>
              <a:t>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9EC970-7841-468F-9FBB-7770F14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0992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181D"/>
                </a:solidFill>
              </a:defRPr>
            </a:pPr>
            <a:r>
              <a:rPr sz="1125" b="1">
                <a:solidFill>
                  <a:srgbClr val="15181D"/>
                </a:solidFill>
              </a:rPr>
              <a:t>完成车辆台账与优惠资格清单，测算2027年车船税增量。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1E9F18-0DFE-4EE1-A92F-CB808CFB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99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17F"/>
                </a:solidFill>
              </a:defRPr>
            </a:pPr>
            <a:r>
              <a:rPr sz="975">
                <a:solidFill>
                  <a:srgbClr val="68717F"/>
                </a:solidFill>
              </a:rPr>
              <a:t>资产/财务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54EBA6-8ECA-4541-9627-9DE3C48B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099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A4A"/>
                </a:solidFill>
              </a:defRPr>
            </a:pPr>
            <a:r>
              <a:rPr sz="975" b="1">
                <a:solidFill>
                  <a:srgbClr val="172A4A"/>
                </a:solidFill>
              </a:rPr>
              <a:t>2026-09-30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221754-ED4B-407E-BC55-2021B33A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19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76B27DB-2B01-4748-A200-008A7AB8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CE08AF-EE94-4845-8AD1-4BA2C479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A4A"/>
                </a:solidFill>
              </a:defRPr>
            </a:pPr>
            <a:r>
              <a:rPr sz="1125" b="1">
                <a:solidFill>
                  <a:srgbClr val="172A4A"/>
                </a:solidFill>
              </a:rPr>
              <a:t>中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5E960D-3B91-4788-82AE-5CF8F1C9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8622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181D"/>
                </a:solidFill>
              </a:defRPr>
            </a:pPr>
            <a:r>
              <a:rPr sz="1125" b="1">
                <a:solidFill>
                  <a:srgbClr val="15181D"/>
                </a:solidFill>
              </a:rPr>
              <a:t>对照804号指引检查共享流程、主数据、责任边界和异常处理。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E5FF57-EBB3-4D40-819B-886AD233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862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17F"/>
                </a:solidFill>
              </a:defRPr>
            </a:pPr>
            <a:r>
              <a:rPr sz="975">
                <a:solidFill>
                  <a:srgbClr val="68717F"/>
                </a:solidFill>
              </a:rPr>
              <a:t>财务/内控/信息化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878BE7-F93C-43AA-95F9-AF5CF810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86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A4A"/>
                </a:solidFill>
              </a:defRPr>
            </a:pPr>
            <a:r>
              <a:rPr sz="975" b="1">
                <a:solidFill>
                  <a:srgbClr val="172A4A"/>
                </a:solidFill>
              </a:rPr>
              <a:t>2026-08-31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A2F95D-1C29-4EB3-A8B5-53F9615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19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3A60F7-6FCA-4844-B398-0C64D049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00DA6F-D7F0-4AE2-9263-032BF911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96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A4A"/>
                </a:solidFill>
              </a:defRPr>
            </a:pPr>
            <a:r>
              <a:rPr sz="1125" b="1">
                <a:solidFill>
                  <a:srgbClr val="172A4A"/>
                </a:solidFill>
              </a:rPr>
              <a:t>中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0333B2-4846-4443-A4FB-47419B28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6252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181D"/>
                </a:solidFill>
              </a:defRPr>
            </a:pPr>
            <a:r>
              <a:rPr sz="1125" b="1">
                <a:solidFill>
                  <a:srgbClr val="15181D"/>
                </a:solidFill>
              </a:rPr>
              <a:t>识别解释第20号适用事项并形成会计判断与期初调整底稿。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166729-9F3E-4FFE-A869-0600B7C1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625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17F"/>
                </a:solidFill>
              </a:defRPr>
            </a:pPr>
            <a:r>
              <a:rPr sz="975">
                <a:solidFill>
                  <a:srgbClr val="68717F"/>
                </a:solidFill>
              </a:rPr>
              <a:t>财务/审计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76CA25-6181-4C96-9066-4E27E350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625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A4A"/>
                </a:solidFill>
              </a:defRPr>
            </a:pPr>
            <a:r>
              <a:rPr sz="975" b="1">
                <a:solidFill>
                  <a:srgbClr val="172A4A"/>
                </a:solidFill>
              </a:rPr>
              <a:t>2026年度报告前</a:t>
            </a:r>
          </a:p>
        </p:txBody>
      </p:sp>
    </p:spTree>
    <p:extLst>
      <p:ext uri="{BB962C8B-B14F-4D97-AF65-F5344CB8AC3E}">
        <p14:creationId xmlns:p14="http://schemas.microsoft.com/office/powerpoint/2010/main" val="871933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D5A9F-35E2-4322-80E0-37FAB3E7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5AB7A-1C9F-4059-B2C2-1232C3D9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FBFEB-016E-48AF-9327-F62B8C45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56F01-00FE-42A0-9C48-AD3037EC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6B9FA-005C-4392-8EA8-67ED2ED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2DC8A-9DDC-489D-80B3-6E0BD7D7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92A0B-9522-4136-907A-CD23C895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D119E-B894-4FF2-906F-35B29B84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17B17-6D16-46C1-9A7D-8F7D7981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73716-9F26-4771-8A05-6C0ECEF7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E940F-354E-410F-8D39-71CBF55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21B4D-2B54-4574-AB9D-5590D417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14962-6716-44BC-9FCF-46967908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EAD5E-6874-4459-8AA5-E1C03D55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0C8B3-A5B4-441F-98E7-F12EE70B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D6F61-8CE6-4B89-9FCA-5283E27A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55433-AE22-4A35-A0A1-047A94AC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9FE82-66D6-4896-A2EC-FA45B722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8AC71-A58E-4463-9B82-CD889CE7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CB76F-0DAC-417C-B25D-8E506A7E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EF96B-2A8B-43C1-8EAD-B84E4D5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665F0-688D-4AB3-BC37-10232F55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7086F-54CD-4C7D-B3FA-AB18FD3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F4481-916A-4BDE-808C-65303782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90550"/>
            <a:ext cx="9525" cy="573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71D3A2-166E-478B-9E56-DDB35922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AFCD0-47EA-4AD6-B4B8-365C7924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9AAD5-6136-45AE-A134-47B6143B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56063D-619C-4BF1-B51C-7430B306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6ED3DB-9E2B-4006-8832-FC0DA7C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142F0-6639-43C9-AFCA-384428D6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851CF8-7C6D-4384-9EF5-D9AA58E1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293B37-448B-4F83-94DF-37F5AFE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9EA43E-72D5-490B-AF67-0544D73B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171612-1E92-474F-A5F7-2986551B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24CFFE-7CD8-4E64-8C42-9FEE1234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9D44F5-3786-4791-B45C-C5672AD8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BA1D34-A3C9-4105-A8B8-8B04247F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BEF"/>
            </a:solidFill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a5577486847b4"/>
          <a:stretch xmlns:a="http://schemas.openxmlformats.org/drawingml/2006/main"/>
        </p:blipFill>
        <p:spPr>
          <a:xfrm xmlns:a="http://schemas.openxmlformats.org/drawingml/2006/main">
            <a:off x="655320" y="228600"/>
            <a:ext cx="232410" cy="3048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90C2D3-26AF-49A2-931E-E2EB66D1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A4A"/>
                </a:solidFill>
              </a:defRPr>
            </a:pPr>
            <a:r>
              <a:rPr sz="1050" b="1">
                <a:solidFill>
                  <a:srgbClr val="172A4A"/>
                </a:solidFill>
              </a:rPr>
              <a:t>广东企加税务师事务所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925BB4-BFC0-4D28-9764-D0604961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资料来源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FF44EB-6AAB-41BB-AE19-3339227F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DB1728-A807-4615-B7F3-F525A908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817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17F"/>
                </a:solidFill>
              </a:defRPr>
            </a:pPr>
            <a:r>
              <a:rPr sz="750">
                <a:solidFill>
                  <a:srgbClr val="68717F"/>
                </a:solidFill>
              </a:rPr>
              <a:t>2026-07-15  ·  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5FE07A-3443-484B-9B18-BA0F872B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E2A2A"/>
                </a:solidFill>
              </a:defRPr>
            </a:pPr>
            <a:r>
              <a:rPr sz="825" b="1">
                <a:solidFill>
                  <a:srgbClr val="CE2A2A"/>
                </a:solidFill>
              </a:rPr>
              <a:t>OFFICIAL SOURCES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4EAAA7-93A7-4BFB-8B8B-616600A4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4A"/>
                </a:solidFill>
              </a:defRPr>
            </a:pPr>
            <a:r>
              <a:rPr sz="2400" b="1">
                <a:solidFill>
                  <a:srgbClr val="172A4A"/>
                </a:solidFill>
              </a:rPr>
              <a:t>全部信息均可追溯至官方公开文件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BB3F93-9D35-4998-8072-AC7F1C45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88BBFA-47D9-431E-B909-0D5A38E4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E2A2A"/>
                </a:solidFill>
              </a:defRPr>
            </a:pPr>
            <a:r>
              <a:rPr sz="975" b="1">
                <a:solidFill>
                  <a:srgbClr val="CE2A2A"/>
                </a:solidFill>
              </a:rPr>
              <a:t>P01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F5F60C-3DB2-4ADE-B5AA-74EA55C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265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A4A"/>
                </a:solidFill>
              </a:defRPr>
            </a:pPr>
            <a:r>
              <a:rPr sz="1125" b="1">
                <a:solidFill>
                  <a:srgbClr val="172A4A"/>
                </a:solidFill>
              </a:rPr>
              <a:t>温馨提示：7月申报纳税期限截至7月15日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792F0F-FBC9-40D8-8729-37932178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税总办征科函〔2025〕64号  ·  https://tianjin.chinatax.gov.cn/11200000000/0200/020005/20260703105225484.shtml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E12E92-BC4E-4652-B9B4-82C3FEFE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AC0098-D983-4A3F-94F4-351A878E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E2A2A"/>
                </a:solidFill>
              </a:defRPr>
            </a:pPr>
            <a:r>
              <a:rPr sz="975" b="1">
                <a:solidFill>
                  <a:srgbClr val="CE2A2A"/>
                </a:solidFill>
              </a:rPr>
              <a:t>P02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C7ADC2-6007-47BC-B04D-B1A96BBB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A4A"/>
                </a:solidFill>
              </a:defRPr>
            </a:pPr>
            <a:r>
              <a:rPr sz="1125" b="1">
                <a:solidFill>
                  <a:srgbClr val="172A4A"/>
                </a:solidFill>
              </a:rPr>
              <a:t>关于调整节能汽车、新能源汽车车船税优惠政策的公告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C60C64-725C-448F-9F2B-724DEFF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财政部 税务总局 工业和信息化部公告2026年第19号  ·  https://tianjin.chinatax.gov.cn/11200000000/0300/030004/03000418/20260706142433259.shtml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C505A2-7F3A-4FA1-9827-D58445E6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4AE9CE-4C32-45B0-9656-9AE50CF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E2A2A"/>
                </a:solidFill>
              </a:defRPr>
            </a:pPr>
            <a:r>
              <a:rPr sz="975" b="1">
                <a:solidFill>
                  <a:srgbClr val="CE2A2A"/>
                </a:solidFill>
              </a:rPr>
              <a:t>P03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1FCAA4-6179-4B8B-AFFF-003DBC03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A4A"/>
                </a:solidFill>
              </a:defRPr>
            </a:pPr>
            <a:r>
              <a:rPr sz="1125" b="1">
                <a:solidFill>
                  <a:srgbClr val="172A4A"/>
                </a:solidFill>
              </a:rPr>
              <a:t>关于印发《管理会计应用指引第804号——财务共享服务》的通知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0BAC6A-40CD-4B3E-9A15-450481EF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财会〔2026〕9号  ·  https://kjs.mof.gov.cn/zhengcefabu/202606/t20260630_3992536.htm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210172-2D96-490F-8351-815E92E3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8FC731-5501-40FC-884D-A1F27AA5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E2A2A"/>
                </a:solidFill>
              </a:defRPr>
            </a:pPr>
            <a:r>
              <a:rPr sz="975" b="1">
                <a:solidFill>
                  <a:srgbClr val="CE2A2A"/>
                </a:solidFill>
              </a:rPr>
              <a:t>P04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E63A20-2B52-484B-8FF4-038BCE4E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A4A"/>
                </a:solidFill>
              </a:defRPr>
            </a:pPr>
            <a:r>
              <a:rPr sz="1125" b="1">
                <a:solidFill>
                  <a:srgbClr val="172A4A"/>
                </a:solidFill>
              </a:rPr>
              <a:t>关于印发《企业会计准则解释第20号》的通知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948183-FA7C-477F-A49F-2FD2898B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财会〔2026〕7号  ·  https://kjs.mof.gov.cn/zhengcefabu/202606/t20260615_3991686.htm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F0C655-C092-4690-8803-614C32CD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19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317C41-C760-4EBC-AB31-D91094AB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19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1FCEE6-04C7-49AF-B5A0-CD914448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62650"/>
            <a:ext cx="984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7F"/>
                </a:solidFill>
              </a:defRPr>
            </a:pPr>
            <a:r>
              <a:rPr sz="825">
                <a:solidFill>
                  <a:srgbClr val="68717F"/>
                </a:solidFill>
              </a:rPr>
              <a:t>本简报依据截至2026年7月15日公开政策整理，仅供内部学习和管理参考。具体业务处理应结合交易事实、现行有效法规及主管机关当前口径执行。</a:t>
            </a:r>
          </a:p>
        </p:txBody>
      </p:sp>
    </p:spTree>
    <p:extLst>
      <p:ext uri="{BB962C8B-B14F-4D97-AF65-F5344CB8AC3E}">
        <p14:creationId xmlns:p14="http://schemas.microsoft.com/office/powerpoint/2010/main" val="228797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2026-07-15T06:55:00.7340000Z</dcterms:created>
  <dcterms:modified xsi:type="dcterms:W3CDTF">2026-07-15T06:55:00.7340000Z</dcterms:modified>
</coreProperties>
</file>