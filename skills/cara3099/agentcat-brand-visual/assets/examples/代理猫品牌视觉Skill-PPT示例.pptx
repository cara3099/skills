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50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gentca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502920"/>
            <a:ext cx="1417320" cy="4211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" y="1508760"/>
            <a:ext cx="59436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FF5001"/>
                </a:solidFill>
                <a:latin typeface="Microsoft YaHei"/>
              </a:rPr>
              <a:t>AGENTCAT · BRAND VISUAL SKILL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920240"/>
            <a:ext cx="777240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3100" b="1">
                <a:solidFill>
                  <a:srgbClr val="162033"/>
                </a:solidFill>
                <a:latin typeface="Microsoft YaHei"/>
              </a:rPr>
              <a:t>代理猫品牌视觉 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788920"/>
            <a:ext cx="804672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0">
                <a:solidFill>
                  <a:srgbClr val="667085"/>
                </a:solidFill>
                <a:latin typeface="Microsoft YaHei"/>
              </a:rPr>
              <a:t>统一应用代理猫品牌视觉到网页、文档、表格与演示文件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4160520"/>
            <a:ext cx="68580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F5001"/>
                </a:solidFill>
                <a:latin typeface="Microsoft YaHei"/>
              </a:rPr>
              <a:t>模板优先 · 原图优先 · 规则化排版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2926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FF5001"/>
                </a:solidFill>
                <a:latin typeface="Microsoft YaHei"/>
              </a:rPr>
              <a:t>代理记账认准代理猫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50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48640"/>
            <a:ext cx="36576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FF5001"/>
                </a:solidFill>
                <a:latin typeface="Microsoft YaHei"/>
              </a:rPr>
              <a:t>01  品牌基础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77724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700" b="1">
                <a:solidFill>
                  <a:srgbClr val="162033"/>
                </a:solidFill>
                <a:latin typeface="Microsoft YaHei"/>
              </a:rPr>
              <a:t>让品牌识别稳定，先从令牌开始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3246120" cy="2423160"/>
          </a:xfrm>
          <a:prstGeom prst="roundRect">
            <a:avLst/>
          </a:prstGeom>
          <a:solidFill>
            <a:srgbClr val="FF5001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788920"/>
            <a:ext cx="27432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</a:rPr>
              <a:t>代理猫橙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3218688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#FF5001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3703320"/>
            <a:ext cx="27432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icrosoft YaHei"/>
              </a:rPr>
              <a:t>行动、短线、重点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965960"/>
            <a:ext cx="3246120" cy="2423160"/>
          </a:xfrm>
          <a:prstGeom prst="roundRect">
            <a:avLst/>
          </a:prstGeom>
          <a:solidFill>
            <a:srgbClr val="162033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2788920"/>
            <a:ext cx="27432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</a:rPr>
              <a:t>深墨蓝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3218688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#162033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3703320"/>
            <a:ext cx="27432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icrosoft YaHei"/>
              </a:rPr>
              <a:t>标题、正文、结构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965960"/>
            <a:ext cx="3246120" cy="2423160"/>
          </a:xfrm>
          <a:prstGeom prst="roundRect">
            <a:avLst/>
          </a:prstGeom>
          <a:solidFill>
            <a:srgbClr val="FCFBF8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76488" y="2788920"/>
            <a:ext cx="27432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700" b="1">
                <a:solidFill>
                  <a:srgbClr val="162033"/>
                </a:solidFill>
                <a:latin typeface="Microsoft YaHei"/>
              </a:rPr>
              <a:t>暖白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6488" y="3218688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667085"/>
                </a:solidFill>
                <a:latin typeface="Microsoft YaHei"/>
              </a:rPr>
              <a:t>#FCFBF8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3703320"/>
            <a:ext cx="27432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Microsoft YaHei"/>
              </a:rPr>
              <a:t>页面底色、留白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46520"/>
            <a:ext cx="2926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FF5001"/>
                </a:solidFill>
                <a:latin typeface="Microsoft YaHei"/>
              </a:rPr>
              <a:t>代理记账认准代理猫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50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48640"/>
            <a:ext cx="36576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FF5001"/>
                </a:solidFill>
                <a:latin typeface="Microsoft YaHei"/>
              </a:rPr>
              <a:t>02  适用范围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77724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700" b="1">
                <a:solidFill>
                  <a:srgbClr val="162033"/>
                </a:solidFill>
                <a:latin typeface="Microsoft YaHei"/>
              </a:rPr>
              <a:t>同一套规则，覆盖多种交付格式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50749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011680"/>
            <a:ext cx="4672583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500" b="1">
                <a:solidFill>
                  <a:srgbClr val="162033"/>
                </a:solidFill>
                <a:latin typeface="Microsoft YaHei"/>
              </a:rPr>
              <a:t>HTML / 小程序界面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487168"/>
            <a:ext cx="4672583" cy="71323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Microsoft YaHei"/>
              </a:rPr>
              <a:t>响应式真实文本页面
检查 1440px 与 390px</a:t>
            </a:r>
          </a:p>
        </p:txBody>
      </p:sp>
      <p:sp>
        <p:nvSpPr>
          <p:cNvPr id="8" name="Rectangle 7"/>
          <p:cNvSpPr/>
          <p:nvPr/>
        </p:nvSpPr>
        <p:spPr>
          <a:xfrm>
            <a:off x="886968" y="1828800"/>
            <a:ext cx="4672583" cy="36576"/>
          </a:xfrm>
          <a:prstGeom prst="rect">
            <a:avLst/>
          </a:prstGeom>
          <a:solidFill>
            <a:srgbClr val="FF50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50749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7" y="2011680"/>
            <a:ext cx="4672583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500" b="1">
                <a:solidFill>
                  <a:srgbClr val="162033"/>
                </a:solidFill>
                <a:latin typeface="Microsoft YaHei"/>
              </a:rPr>
              <a:t>Word / PDF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7" y="2487168"/>
            <a:ext cx="4672583" cy="71323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Microsoft YaHei"/>
              </a:rPr>
              <a:t>单栏连续阅读
检查分页、打印与字体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64807" y="1828800"/>
            <a:ext cx="4672583" cy="36576"/>
          </a:xfrm>
          <a:prstGeom prst="rect">
            <a:avLst/>
          </a:prstGeom>
          <a:solidFill>
            <a:srgbClr val="FF50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3794760"/>
            <a:ext cx="50749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977640"/>
            <a:ext cx="4672583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500" b="1">
                <a:solidFill>
                  <a:srgbClr val="162033"/>
                </a:solidFill>
                <a:latin typeface="Microsoft YaHei"/>
              </a:rPr>
              <a:t>Excel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453128"/>
            <a:ext cx="4672583" cy="71323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Microsoft YaHei"/>
              </a:rPr>
              <a:t>数据可筛选、可复制、可排序
检查列宽、冻结与打印区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" y="3794760"/>
            <a:ext cx="4672583" cy="36576"/>
          </a:xfrm>
          <a:prstGeom prst="rect">
            <a:avLst/>
          </a:prstGeom>
          <a:solidFill>
            <a:srgbClr val="FF50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3794760"/>
            <a:ext cx="50749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7" y="3977640"/>
            <a:ext cx="4672583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500" b="1">
                <a:solidFill>
                  <a:srgbClr val="162033"/>
                </a:solidFill>
                <a:latin typeface="Microsoft YaHei"/>
              </a:rPr>
              <a:t>PowerPoint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7" y="4453128"/>
            <a:ext cx="4672583" cy="71323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Microsoft YaHei"/>
              </a:rPr>
              <a:t>模板跟随
逐页检查标题、正文与页脚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64807" y="3794760"/>
            <a:ext cx="4672583" cy="36576"/>
          </a:xfrm>
          <a:prstGeom prst="rect">
            <a:avLst/>
          </a:prstGeom>
          <a:solidFill>
            <a:srgbClr val="FF50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446520"/>
            <a:ext cx="2926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FF5001"/>
                </a:solidFill>
                <a:latin typeface="Microsoft YaHei"/>
              </a:rPr>
              <a:t>代理记账认准代理猫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50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48640"/>
            <a:ext cx="36576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FF5001"/>
                </a:solidFill>
                <a:latin typeface="Microsoft YaHei"/>
              </a:rPr>
              <a:t>03  使用流程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77724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700" b="1">
                <a:solidFill>
                  <a:srgbClr val="162033"/>
                </a:solidFill>
                <a:latin typeface="Microsoft YaHei"/>
              </a:rPr>
              <a:t>从内容结构到可交付文件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57400"/>
            <a:ext cx="7315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500" b="1">
                <a:solidFill>
                  <a:srgbClr val="FF5001"/>
                </a:solidFill>
                <a:latin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88920"/>
            <a:ext cx="22860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500" b="1">
                <a:solidFill>
                  <a:srgbClr val="162033"/>
                </a:solidFill>
                <a:latin typeface="Microsoft YaHei"/>
              </a:rPr>
              <a:t>准备内容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46120"/>
            <a:ext cx="224028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Microsoft YaHei"/>
              </a:rPr>
              <a:t>确认固定口号、格式和真实事实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286000"/>
            <a:ext cx="3657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800" b="1">
                <a:solidFill>
                  <a:srgbClr val="FF5001"/>
                </a:solidFill>
                <a:latin typeface="Microsoft YaHei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057400"/>
            <a:ext cx="7315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500" b="1">
                <a:solidFill>
                  <a:srgbClr val="FF5001"/>
                </a:solidFill>
                <a:latin typeface="Microsoft Ya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788920"/>
            <a:ext cx="22860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500" b="1">
                <a:solidFill>
                  <a:srgbClr val="162033"/>
                </a:solidFill>
                <a:latin typeface="Microsoft YaHei"/>
              </a:rPr>
              <a:t>套用模板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3246120"/>
            <a:ext cx="224028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Microsoft YaHei"/>
              </a:rPr>
              <a:t>保留可编辑结构与品牌令牌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286000"/>
            <a:ext cx="3657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800" b="1">
                <a:solidFill>
                  <a:srgbClr val="FF5001"/>
                </a:solidFill>
                <a:latin typeface="Microsoft Ya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057400"/>
            <a:ext cx="7315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500" b="1">
                <a:solidFill>
                  <a:srgbClr val="FF5001"/>
                </a:solidFill>
                <a:latin typeface="Microsoft YaHe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788920"/>
            <a:ext cx="22860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500" b="1">
                <a:solidFill>
                  <a:srgbClr val="162033"/>
                </a:solidFill>
                <a:latin typeface="Microsoft YaHei"/>
              </a:rPr>
              <a:t>运行脚本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246120"/>
            <a:ext cx="224028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Microsoft YaHei"/>
              </a:rPr>
              <a:t>生成文件并完成文本校验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286000"/>
            <a:ext cx="3657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800" b="1">
                <a:solidFill>
                  <a:srgbClr val="FF5001"/>
                </a:solidFill>
                <a:latin typeface="Microsoft YaHe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2057400"/>
            <a:ext cx="7315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500" b="1">
                <a:solidFill>
                  <a:srgbClr val="FF5001"/>
                </a:solidFill>
                <a:latin typeface="Microsoft YaHe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2788920"/>
            <a:ext cx="22860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500" b="1">
                <a:solidFill>
                  <a:srgbClr val="162033"/>
                </a:solidFill>
                <a:latin typeface="Microsoft YaHei"/>
              </a:rPr>
              <a:t>完成 QA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3246120"/>
            <a:ext cx="224028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Microsoft YaHei"/>
              </a:rPr>
              <a:t>检查渲染、分页、溢出与边界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46520"/>
            <a:ext cx="2926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FF5001"/>
                </a:solidFill>
                <a:latin typeface="Microsoft YaHei"/>
              </a:rPr>
              <a:t>代理记账认准代理猫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50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48640"/>
            <a:ext cx="36576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FF5001"/>
                </a:solidFill>
                <a:latin typeface="Microsoft YaHei"/>
              </a:rPr>
              <a:t>04  交付前 QA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8686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700" b="1">
                <a:solidFill>
                  <a:srgbClr val="162033"/>
                </a:solidFill>
                <a:latin typeface="Microsoft YaHei"/>
              </a:rPr>
              <a:t>把模型差异收敛在模板和检查表里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5074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011680"/>
            <a:ext cx="4672583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500" b="1">
                <a:solidFill>
                  <a:srgbClr val="162033"/>
                </a:solidFill>
                <a:latin typeface="Microsoft YaHei"/>
              </a:rPr>
              <a:t>Logo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487168"/>
            <a:ext cx="4672583" cy="5760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Microsoft YaHei"/>
              </a:rPr>
              <a:t>只使用 Skill 内原图，不变形、不重绘</a:t>
            </a:r>
          </a:p>
        </p:txBody>
      </p:sp>
      <p:sp>
        <p:nvSpPr>
          <p:cNvPr id="8" name="Rectangle 7"/>
          <p:cNvSpPr/>
          <p:nvPr/>
        </p:nvSpPr>
        <p:spPr>
          <a:xfrm>
            <a:off x="886968" y="1828800"/>
            <a:ext cx="4672583" cy="36576"/>
          </a:xfrm>
          <a:prstGeom prst="rect">
            <a:avLst/>
          </a:prstGeom>
          <a:solidFill>
            <a:srgbClr val="FF50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5074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7" y="2011680"/>
            <a:ext cx="4672583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500" b="1">
                <a:solidFill>
                  <a:srgbClr val="162033"/>
                </a:solidFill>
                <a:latin typeface="Microsoft YaHei"/>
              </a:rPr>
              <a:t>文字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7" y="2487168"/>
            <a:ext cx="4672583" cy="5760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Microsoft YaHei"/>
              </a:rPr>
              <a:t>固定口号与品牌术语保持一致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64807" y="1828800"/>
            <a:ext cx="4672583" cy="36576"/>
          </a:xfrm>
          <a:prstGeom prst="rect">
            <a:avLst/>
          </a:prstGeom>
          <a:solidFill>
            <a:srgbClr val="FF50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3657600"/>
            <a:ext cx="5074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840480"/>
            <a:ext cx="4672583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500" b="1">
                <a:solidFill>
                  <a:srgbClr val="162033"/>
                </a:solidFill>
                <a:latin typeface="Microsoft YaHei"/>
              </a:rPr>
              <a:t>边界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315968"/>
            <a:ext cx="4672583" cy="5760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Microsoft YaHei"/>
              </a:rPr>
              <a:t>无截断、遮挡、横向溢出或错误入口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" y="3657600"/>
            <a:ext cx="4672583" cy="36576"/>
          </a:xfrm>
          <a:prstGeom prst="rect">
            <a:avLst/>
          </a:prstGeom>
          <a:solidFill>
            <a:srgbClr val="FF50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3657600"/>
            <a:ext cx="5074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7" y="3840480"/>
            <a:ext cx="4672583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500" b="1">
                <a:solidFill>
                  <a:srgbClr val="162033"/>
                </a:solidFill>
                <a:latin typeface="Microsoft YaHei"/>
              </a:rPr>
              <a:t>文件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7" y="4315968"/>
            <a:ext cx="4672583" cy="5760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Microsoft YaHei"/>
              </a:rPr>
              <a:t>模板、脚本、参考文档与 Office 结构完整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64807" y="3657600"/>
            <a:ext cx="4672583" cy="36576"/>
          </a:xfrm>
          <a:prstGeom prst="rect">
            <a:avLst/>
          </a:prstGeom>
          <a:solidFill>
            <a:srgbClr val="FF50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446520"/>
            <a:ext cx="2926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FF5001"/>
                </a:solidFill>
                <a:latin typeface="Microsoft YaHei"/>
              </a:rPr>
              <a:t>代理记账认准代理猫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50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48640"/>
            <a:ext cx="36576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FF5001"/>
                </a:solidFill>
                <a:latin typeface="Microsoft YaHei"/>
              </a:rPr>
              <a:t>05  结语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96012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3100" b="1">
                <a:solidFill>
                  <a:srgbClr val="162033"/>
                </a:solidFill>
                <a:latin typeface="Microsoft YaHei"/>
              </a:rPr>
              <a:t>先保证稳定一致，再扩展内容能力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423160"/>
            <a:ext cx="96926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700" b="0">
                <a:solidFill>
                  <a:srgbClr val="667085"/>
                </a:solidFill>
                <a:latin typeface="Microsoft YaHei"/>
              </a:rPr>
              <a:t>代理猫品牌视觉 Skill 将品牌令牌、模板资产、内容结构和质量检查放在同一个可复用包里。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3886200"/>
            <a:ext cx="585216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100" b="1">
                <a:solidFill>
                  <a:srgbClr val="FF5001"/>
                </a:solidFill>
                <a:latin typeface="Microsoft YaHei"/>
              </a:rPr>
              <a:t>代理记账认准代理猫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2926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FF5001"/>
                </a:solidFill>
                <a:latin typeface="Microsoft YaHei"/>
              </a:rPr>
              <a:t>代理记账认准代理猫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